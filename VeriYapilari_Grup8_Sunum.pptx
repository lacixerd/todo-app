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02F8A5B-1789-4715-B8C8-F74257E38B2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F1FF92-AEED-4C1F-901E-F2CCC4588C0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2F95F7-65B7-4366-BCEF-3D0815A9DA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70AE08-4365-4D93-9402-3EFCF59AA0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FBD101-3D2E-4C91-B4D8-042034D391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AF95CD-AE77-48B8-848B-D6869A7520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7BF7FE-0E7C-409C-811C-48F0E21CC6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AAEBDA-2002-4846-AD05-D6E49C5004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45A8DF-5FD3-4B2F-A589-F2B01C8D8F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34E663-3BB1-4E97-B810-A2451AD7C7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F204A7-8B0F-49CB-98EF-BADC45484B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02F110-B381-4EEC-9C40-9F85B1A987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02920" y="9144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To-Do List Uygulaması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02920" y="18745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6495ed"/>
                </a:solidFill>
                <a:latin typeface="Calibri"/>
                <a:ea typeface="Calibri"/>
              </a:rPr>
              <a:t>Veri Yapıları ve Algoritmalar Dersi — BLM2002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02920" y="242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0a0aa"/>
                </a:solidFill>
                <a:latin typeface="Calibri"/>
                <a:ea typeface="Calibri"/>
              </a:rPr>
              <a:t>Marmara Üniversitesi · Teknoloji Fakültesi · Bilgisayar Mühendisliği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02920" y="2926080"/>
            <a:ext cx="4754520" cy="16455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85800" y="301752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6495ed"/>
                </a:solidFill>
                <a:latin typeface="Calibri"/>
                <a:ea typeface="Calibri"/>
              </a:rPr>
              <a:t>Grup 8 — Lab 119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85800" y="3383280"/>
            <a:ext cx="4388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170424040  Erdem Kaya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170424041  Cem Anıl Erdem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170424051  Hüseyin Ekiz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5577840" y="2926080"/>
            <a:ext cx="3108600" cy="914040"/>
          </a:xfrm>
          <a:prstGeom prst="rect">
            <a:avLst/>
          </a:prstGeom>
          <a:solidFill>
            <a:srgbClr val="1c1c2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669280" y="31546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95ed"/>
                </a:solidFill>
                <a:latin typeface="Calibri"/>
                <a:ea typeface="Calibri"/>
              </a:rPr>
              <a:t>github.com/Lacixerd/todo-app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Sunum Gündem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457200" y="1051560"/>
            <a:ext cx="4023000" cy="10512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457200" y="1051560"/>
            <a:ext cx="502560" cy="105120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502920" y="130752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051560" y="116136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Proje Tanıtımı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051560" y="160020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Amaç ve genel bakış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4846320" y="1051560"/>
            <a:ext cx="4023000" cy="10512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4846320" y="1051560"/>
            <a:ext cx="502560" cy="105120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4892040" y="130752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5440680" y="116136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Proje Yapısı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5440680" y="160020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MVC mimarisi ve klasör düzeni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11"/>
          <p:cNvSpPr/>
          <p:nvPr/>
        </p:nvSpPr>
        <p:spPr>
          <a:xfrm>
            <a:off x="457200" y="2286000"/>
            <a:ext cx="4023000" cy="10512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457200" y="2286000"/>
            <a:ext cx="502560" cy="105120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502920" y="254196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1051560" y="239580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Kullanılan Veri Yapıları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1051560" y="283464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7 farklı veri yapısının kullanım alanları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6"/>
          <p:cNvSpPr/>
          <p:nvPr/>
        </p:nvSpPr>
        <p:spPr>
          <a:xfrm>
            <a:off x="4846320" y="2286000"/>
            <a:ext cx="4023000" cy="10512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4846320" y="2286000"/>
            <a:ext cx="502560" cy="105120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4892040" y="254196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5440680" y="239580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UML &amp; Use-Case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5440680" y="283464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Sınıf ve kullanım diyagramları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457200" y="3520440"/>
            <a:ext cx="4023000" cy="10512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22"/>
          <p:cNvSpPr/>
          <p:nvPr/>
        </p:nvSpPr>
        <p:spPr>
          <a:xfrm>
            <a:off x="457200" y="3520440"/>
            <a:ext cx="502560" cy="105120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23"/>
          <p:cNvSpPr/>
          <p:nvPr/>
        </p:nvSpPr>
        <p:spPr>
          <a:xfrm>
            <a:off x="502920" y="377640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1051560" y="363024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Uygulama Görselleri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1051560" y="406908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Arayüz ve özellikler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26"/>
          <p:cNvSpPr/>
          <p:nvPr/>
        </p:nvSpPr>
        <p:spPr>
          <a:xfrm>
            <a:off x="4846320" y="3520440"/>
            <a:ext cx="4023000" cy="10512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4846320" y="3520440"/>
            <a:ext cx="502560" cy="105120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8"/>
          <p:cNvSpPr/>
          <p:nvPr/>
        </p:nvSpPr>
        <p:spPr>
          <a:xfrm>
            <a:off x="4892040" y="377640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9"/>
          <p:cNvSpPr/>
          <p:nvPr/>
        </p:nvSpPr>
        <p:spPr>
          <a:xfrm>
            <a:off x="5440680" y="363024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Sonuç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0"/>
          <p:cNvSpPr/>
          <p:nvPr/>
        </p:nvSpPr>
        <p:spPr>
          <a:xfrm>
            <a:off x="5440680" y="406908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Özet ve değerlendirme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01  Proje Tanıtımı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457200" y="1005840"/>
            <a:ext cx="5028840" cy="365724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640080" y="10972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6495ed"/>
                </a:solidFill>
                <a:latin typeface="Calibri"/>
                <a:ea typeface="Calibri"/>
              </a:rPr>
              <a:t>Proje Amacı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640080" y="1508760"/>
            <a:ext cx="4571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Veri yapılarının gerçek bir uygulamada nasıl kullanıldığını göstermek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MVC mimarisi ile temiz kod organizasyonu sağlamak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Her özellik için en uygun veri yapısını seçmek ve gerekçelendirmek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JavaFX üzerinde Swing kullanarak masaüstü uygulaması geliştirmek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640080" y="33832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6495ed"/>
                </a:solidFill>
                <a:latin typeface="Calibri"/>
                <a:ea typeface="Calibri"/>
              </a:rPr>
              <a:t>Kullanılan Teknolojiler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640080" y="3794760"/>
            <a:ext cx="1005480" cy="347040"/>
          </a:xfrm>
          <a:prstGeom prst="roundRect">
            <a:avLst>
              <a:gd name="adj" fmla="val 18421"/>
            </a:avLst>
          </a:prstGeom>
          <a:solidFill>
            <a:srgbClr val="6495ed">
              <a:alpha val="25000"/>
            </a:srgbClr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640080" y="379476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495ed"/>
                </a:solidFill>
                <a:latin typeface="Calibri"/>
                <a:ea typeface="Calibri"/>
              </a:rPr>
              <a:t>Java 21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1801440" y="3794760"/>
            <a:ext cx="1005480" cy="347040"/>
          </a:xfrm>
          <a:prstGeom prst="roundRect">
            <a:avLst>
              <a:gd name="adj" fmla="val 18421"/>
            </a:avLst>
          </a:prstGeom>
          <a:solidFill>
            <a:srgbClr val="66bb6a">
              <a:alpha val="25000"/>
            </a:srgbClr>
          </a:solidFill>
          <a:ln w="1270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1801440" y="379476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6bb6a"/>
                </a:solidFill>
                <a:latin typeface="Calibri"/>
                <a:ea typeface="Calibri"/>
              </a:rPr>
              <a:t>Swing GUI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2962800" y="3794760"/>
            <a:ext cx="1005480" cy="347040"/>
          </a:xfrm>
          <a:prstGeom prst="roundRect">
            <a:avLst>
              <a:gd name="adj" fmla="val 18421"/>
            </a:avLst>
          </a:prstGeom>
          <a:solidFill>
            <a:srgbClr val="ffb74d">
              <a:alpha val="25000"/>
            </a:srgbClr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2962800" y="379476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4d"/>
                </a:solidFill>
                <a:latin typeface="Calibri"/>
                <a:ea typeface="Calibri"/>
              </a:rPr>
              <a:t>MVC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4123800" y="3794760"/>
            <a:ext cx="1005480" cy="347040"/>
          </a:xfrm>
          <a:prstGeom prst="roundRect">
            <a:avLst>
              <a:gd name="adj" fmla="val 18421"/>
            </a:avLst>
          </a:prstGeom>
          <a:solidFill>
            <a:srgbClr val="ef5350">
              <a:alpha val="25000"/>
            </a:srgbClr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4123800" y="379476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f5350"/>
                </a:solidFill>
                <a:latin typeface="Calibri"/>
                <a:ea typeface="Calibri"/>
              </a:rPr>
              <a:t>Maven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5760720" y="1005840"/>
            <a:ext cx="2925720" cy="365724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5943600" y="109728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6495ed"/>
                </a:solidFill>
                <a:latin typeface="Calibri"/>
                <a:ea typeface="Calibri"/>
              </a:rPr>
              <a:t>Temel Özellikler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5"/>
          <p:cNvSpPr/>
          <p:nvPr/>
        </p:nvSpPr>
        <p:spPr>
          <a:xfrm>
            <a:off x="5943600" y="1508760"/>
            <a:ext cx="127800" cy="1278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6126480" y="146304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Görev ekleme (öncelikli)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7"/>
          <p:cNvSpPr/>
          <p:nvPr/>
        </p:nvSpPr>
        <p:spPr>
          <a:xfrm>
            <a:off x="5943600" y="1938600"/>
            <a:ext cx="127800" cy="1278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6126480" y="189288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Görev silme + Geri alma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9"/>
          <p:cNvSpPr/>
          <p:nvPr/>
        </p:nvSpPr>
        <p:spPr>
          <a:xfrm>
            <a:off x="5943600" y="2368440"/>
            <a:ext cx="127800" cy="1278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6126480" y="232272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Tamamlama toggle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21"/>
          <p:cNvSpPr/>
          <p:nvPr/>
        </p:nvSpPr>
        <p:spPr>
          <a:xfrm>
            <a:off x="5943600" y="2797920"/>
            <a:ext cx="127800" cy="1278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6126480" y="275220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Önceliğe göre sıralama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3"/>
          <p:cNvSpPr/>
          <p:nvPr/>
        </p:nvSpPr>
        <p:spPr>
          <a:xfrm>
            <a:off x="5943600" y="3227760"/>
            <a:ext cx="127800" cy="1278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4"/>
          <p:cNvSpPr/>
          <p:nvPr/>
        </p:nvSpPr>
        <p:spPr>
          <a:xfrm>
            <a:off x="6126480" y="318204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Tarihe göre gruplama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25"/>
          <p:cNvSpPr/>
          <p:nvPr/>
        </p:nvSpPr>
        <p:spPr>
          <a:xfrm>
            <a:off x="5943600" y="3657600"/>
            <a:ext cx="127800" cy="1278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6"/>
          <p:cNvSpPr/>
          <p:nvPr/>
        </p:nvSpPr>
        <p:spPr>
          <a:xfrm>
            <a:off x="6126480" y="361188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AVL Tree metin arama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27"/>
          <p:cNvSpPr/>
          <p:nvPr/>
        </p:nvSpPr>
        <p:spPr>
          <a:xfrm>
            <a:off x="5943600" y="4087440"/>
            <a:ext cx="127800" cy="1278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8"/>
          <p:cNvSpPr/>
          <p:nvPr/>
        </p:nvSpPr>
        <p:spPr>
          <a:xfrm>
            <a:off x="6126480" y="404172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Filtreleme (All/Active/Done)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02  Proje Yapısı — MVC Mimarisi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365760" y="1005840"/>
            <a:ext cx="1965600" cy="37944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365760" y="1005840"/>
            <a:ext cx="1965600" cy="4111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365760" y="100584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Model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475560" y="150876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Priority.java — enum: LOW/MEDIUM/HIGH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475560" y="216720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Task.java — UUID, title, priority, status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475560" y="282564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TaskRepository.java — tüm veri yapıları burada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2487240" y="1005840"/>
            <a:ext cx="1965600" cy="37944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2487240" y="1005840"/>
            <a:ext cx="1965600" cy="41112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2487240" y="100584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Controller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2597040" y="150876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TaskController.java — iş mantığı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2597040" y="216720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Undo (Stack), BST sıralama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2597040" y="282564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Filter &amp; arama işlemleri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4608720" y="1005840"/>
            <a:ext cx="1965600" cy="37944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4608720" y="1005840"/>
            <a:ext cx="1965600" cy="41112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4608720" y="100584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View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4718160" y="150876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MainFrame.java — ana pencere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4718160" y="216720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TaskFormPanel.java — giriş alanı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4718160" y="282564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TaskListPanel.java — görev listesi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9"/>
          <p:cNvSpPr/>
          <p:nvPr/>
        </p:nvSpPr>
        <p:spPr>
          <a:xfrm>
            <a:off x="6729840" y="1005840"/>
            <a:ext cx="1965600" cy="37944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20"/>
          <p:cNvSpPr/>
          <p:nvPr/>
        </p:nvSpPr>
        <p:spPr>
          <a:xfrm>
            <a:off x="6729840" y="1005840"/>
            <a:ext cx="1965600" cy="4111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6729840" y="100584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Structure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6839640" y="150876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AVLTree&lt;T&gt; — başlık araması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3"/>
          <p:cNvSpPr/>
          <p:nvPr/>
        </p:nvSpPr>
        <p:spPr>
          <a:xfrm>
            <a:off x="6839640" y="216720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BinarySearchTree&lt;T&gt; — öncelik sıralaması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24"/>
          <p:cNvSpPr/>
          <p:nvPr/>
        </p:nvSpPr>
        <p:spPr>
          <a:xfrm>
            <a:off x="2331720" y="2926080"/>
            <a:ext cx="91440" cy="360"/>
          </a:xfrm>
          <a:prstGeom prst="line">
            <a:avLst/>
          </a:prstGeom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5"/>
          <p:cNvSpPr/>
          <p:nvPr/>
        </p:nvSpPr>
        <p:spPr>
          <a:xfrm>
            <a:off x="457200" y="475488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a0a0aa"/>
                </a:solidFill>
                <a:latin typeface="Calibri"/>
                <a:ea typeface="Calibri"/>
              </a:rPr>
              <a:t>Her katman birbirinden bağımsız — controller, Swing'den habersizdir.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03  Kullanılan Veri Yapıları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457200" y="1005840"/>
            <a:ext cx="8229240" cy="347040"/>
          </a:xfrm>
          <a:prstGeom prst="rect">
            <a:avLst/>
          </a:prstGeom>
          <a:solidFill>
            <a:srgbClr val="252530"/>
          </a:solidFill>
          <a:ln w="1270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548640" y="100584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495ed"/>
                </a:solidFill>
                <a:latin typeface="Calibri"/>
                <a:ea typeface="Calibri"/>
              </a:rPr>
              <a:t>Veri Yapısı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2286000" y="10058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495ed"/>
                </a:solidFill>
                <a:latin typeface="Calibri"/>
                <a:ea typeface="Calibri"/>
              </a:rPr>
              <a:t>Kullanım Yeri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4389120" y="1005840"/>
            <a:ext cx="4205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495ed"/>
                </a:solidFill>
                <a:latin typeface="Calibri"/>
                <a:ea typeface="Calibri"/>
              </a:rPr>
              <a:t>Neden Bu Yapı?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457200" y="1417320"/>
            <a:ext cx="8229240" cy="456840"/>
          </a:xfrm>
          <a:prstGeom prst="rect">
            <a:avLst/>
          </a:prstGeom>
          <a:solidFill>
            <a:srgbClr val="28282f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457200" y="1417320"/>
            <a:ext cx="72720" cy="45684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594360" y="141732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495ed"/>
                </a:solidFill>
                <a:latin typeface="Calibri"/>
                <a:ea typeface="Calibri"/>
              </a:rPr>
              <a:t>LinkedList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2286000" y="14173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TaskRepository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389120" y="141732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O(1) baş ekleme/silme; görevleri tutmak için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457200" y="1911240"/>
            <a:ext cx="8229240" cy="456840"/>
          </a:xfrm>
          <a:prstGeom prst="rect">
            <a:avLst/>
          </a:prstGeom>
          <a:solidFill>
            <a:srgbClr val="2c2c32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>
            <a:off x="457200" y="1911240"/>
            <a:ext cx="72720" cy="45684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594360" y="191124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4d"/>
                </a:solidFill>
                <a:latin typeface="Calibri"/>
                <a:ea typeface="Calibri"/>
              </a:rPr>
              <a:t>Stack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2286000" y="19112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TaskController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4389120" y="191124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LIFO — son silinen görevi geri almak (Undo)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5"/>
          <p:cNvSpPr/>
          <p:nvPr/>
        </p:nvSpPr>
        <p:spPr>
          <a:xfrm>
            <a:off x="457200" y="2404800"/>
            <a:ext cx="8229240" cy="456840"/>
          </a:xfrm>
          <a:prstGeom prst="rect">
            <a:avLst/>
          </a:prstGeom>
          <a:solidFill>
            <a:srgbClr val="28282f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16"/>
          <p:cNvSpPr/>
          <p:nvPr/>
        </p:nvSpPr>
        <p:spPr>
          <a:xfrm>
            <a:off x="457200" y="2404800"/>
            <a:ext cx="72720" cy="45684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594360" y="240480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6bb6a"/>
                </a:solidFill>
                <a:latin typeface="Calibri"/>
                <a:ea typeface="Calibri"/>
              </a:rPr>
              <a:t>HashMap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2286000" y="24048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TaskRepository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9"/>
          <p:cNvSpPr/>
          <p:nvPr/>
        </p:nvSpPr>
        <p:spPr>
          <a:xfrm>
            <a:off x="4389120" y="240480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ID ile O(1) erişim; tamamlanan görevler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0"/>
          <p:cNvSpPr/>
          <p:nvPr/>
        </p:nvSpPr>
        <p:spPr>
          <a:xfrm>
            <a:off x="457200" y="2898720"/>
            <a:ext cx="8229240" cy="456840"/>
          </a:xfrm>
          <a:prstGeom prst="rect">
            <a:avLst/>
          </a:prstGeom>
          <a:solidFill>
            <a:srgbClr val="2c2c32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1"/>
          <p:cNvSpPr/>
          <p:nvPr/>
        </p:nvSpPr>
        <p:spPr>
          <a:xfrm>
            <a:off x="457200" y="2898720"/>
            <a:ext cx="72720" cy="4568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2"/>
          <p:cNvSpPr/>
          <p:nvPr/>
        </p:nvSpPr>
        <p:spPr>
          <a:xfrm>
            <a:off x="594360" y="289872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f5350"/>
                </a:solidFill>
                <a:latin typeface="Calibri"/>
                <a:ea typeface="Calibri"/>
              </a:rPr>
              <a:t>BST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3"/>
          <p:cNvSpPr/>
          <p:nvPr/>
        </p:nvSpPr>
        <p:spPr>
          <a:xfrm>
            <a:off x="2286000" y="28987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TaskController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4"/>
          <p:cNvSpPr/>
          <p:nvPr/>
        </p:nvSpPr>
        <p:spPr>
          <a:xfrm>
            <a:off x="4389120" y="289872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Önceliğe göre sıralı yerleştirme ve O(n) gezinme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5"/>
          <p:cNvSpPr/>
          <p:nvPr/>
        </p:nvSpPr>
        <p:spPr>
          <a:xfrm>
            <a:off x="457200" y="3392280"/>
            <a:ext cx="8229240" cy="456840"/>
          </a:xfrm>
          <a:prstGeom prst="rect">
            <a:avLst/>
          </a:prstGeom>
          <a:solidFill>
            <a:srgbClr val="28282f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26"/>
          <p:cNvSpPr/>
          <p:nvPr/>
        </p:nvSpPr>
        <p:spPr>
          <a:xfrm>
            <a:off x="457200" y="3392280"/>
            <a:ext cx="72720" cy="45684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7"/>
          <p:cNvSpPr/>
          <p:nvPr/>
        </p:nvSpPr>
        <p:spPr>
          <a:xfrm>
            <a:off x="594360" y="339228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495ed"/>
                </a:solidFill>
                <a:latin typeface="Calibri"/>
                <a:ea typeface="Calibri"/>
              </a:rPr>
              <a:t>TreeMap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8"/>
          <p:cNvSpPr/>
          <p:nvPr/>
        </p:nvSpPr>
        <p:spPr>
          <a:xfrm>
            <a:off x="2286000" y="33922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TaskRepository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9"/>
          <p:cNvSpPr/>
          <p:nvPr/>
        </p:nvSpPr>
        <p:spPr>
          <a:xfrm>
            <a:off x="4389120" y="339228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Aynı tarihteki görevleri gruplama (sıralı anahtar)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30"/>
          <p:cNvSpPr/>
          <p:nvPr/>
        </p:nvSpPr>
        <p:spPr>
          <a:xfrm>
            <a:off x="457200" y="3886200"/>
            <a:ext cx="8229240" cy="456840"/>
          </a:xfrm>
          <a:prstGeom prst="rect">
            <a:avLst/>
          </a:prstGeom>
          <a:solidFill>
            <a:srgbClr val="2c2c32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31"/>
          <p:cNvSpPr/>
          <p:nvPr/>
        </p:nvSpPr>
        <p:spPr>
          <a:xfrm>
            <a:off x="457200" y="3886200"/>
            <a:ext cx="72720" cy="45684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32"/>
          <p:cNvSpPr/>
          <p:nvPr/>
        </p:nvSpPr>
        <p:spPr>
          <a:xfrm>
            <a:off x="594360" y="388620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4d"/>
                </a:solidFill>
                <a:latin typeface="Calibri"/>
                <a:ea typeface="Calibri"/>
              </a:rPr>
              <a:t>AVL Tree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33"/>
          <p:cNvSpPr/>
          <p:nvPr/>
        </p:nvSpPr>
        <p:spPr>
          <a:xfrm>
            <a:off x="2286000" y="38862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TaskRepository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4"/>
          <p:cNvSpPr/>
          <p:nvPr/>
        </p:nvSpPr>
        <p:spPr>
          <a:xfrm>
            <a:off x="4389120" y="388620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Başlık araması O(log n) — otomatik dengeli BST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35"/>
          <p:cNvSpPr/>
          <p:nvPr/>
        </p:nvSpPr>
        <p:spPr>
          <a:xfrm>
            <a:off x="457200" y="4380120"/>
            <a:ext cx="8229240" cy="456840"/>
          </a:xfrm>
          <a:prstGeom prst="rect">
            <a:avLst/>
          </a:prstGeom>
          <a:solidFill>
            <a:srgbClr val="28282f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36"/>
          <p:cNvSpPr/>
          <p:nvPr/>
        </p:nvSpPr>
        <p:spPr>
          <a:xfrm>
            <a:off x="457200" y="4380120"/>
            <a:ext cx="72720" cy="45684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37"/>
          <p:cNvSpPr/>
          <p:nvPr/>
        </p:nvSpPr>
        <p:spPr>
          <a:xfrm>
            <a:off x="594360" y="438012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6bb6a"/>
                </a:solidFill>
                <a:latin typeface="Calibri"/>
                <a:ea typeface="Calibri"/>
              </a:rPr>
              <a:t>List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38"/>
          <p:cNvSpPr/>
          <p:nvPr/>
        </p:nvSpPr>
        <p:spPr>
          <a:xfrm>
            <a:off x="2286000" y="43801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0a0aa"/>
                </a:solidFill>
                <a:latin typeface="Calibri"/>
                <a:ea typeface="Calibri"/>
              </a:rPr>
              <a:t>TaskController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39"/>
          <p:cNvSpPr/>
          <p:nvPr/>
        </p:nvSpPr>
        <p:spPr>
          <a:xfrm>
            <a:off x="4389120" y="438012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Filtreleme görünümü — orijinal veriyi değiştirmez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03  Veri Yapıları — Detay (1/2)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"/>
          <p:cNvSpPr/>
          <p:nvPr/>
        </p:nvSpPr>
        <p:spPr>
          <a:xfrm>
            <a:off x="365760" y="1005840"/>
            <a:ext cx="4114440" cy="191988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365760" y="1005840"/>
            <a:ext cx="4114440" cy="34704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457200" y="100584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LinkedList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502920" y="1417320"/>
            <a:ext cx="3748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Görevlerin ana deposu. Her düğüm birden fazla yapıdan erişilebilir.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O(1) baş ekleme/silme — TaskRepository içinde kullanılır.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4754880" y="1417320"/>
            <a:ext cx="1188360" cy="5025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4754880" y="141732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 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5943600" y="1663920"/>
            <a:ext cx="182880" cy="360"/>
          </a:xfrm>
          <a:prstGeom prst="line">
            <a:avLst/>
          </a:prstGeom>
          <a:ln w="254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6126480" y="1417320"/>
            <a:ext cx="1188360" cy="5025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6126480" y="141732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 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7315200" y="1663920"/>
            <a:ext cx="182880" cy="360"/>
          </a:xfrm>
          <a:prstGeom prst="line">
            <a:avLst/>
          </a:prstGeom>
          <a:ln w="254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7498080" y="1417320"/>
            <a:ext cx="1188360" cy="5025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7498080" y="1417320"/>
            <a:ext cx="1188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 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4754880" y="19933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0a0aa"/>
                </a:solidFill>
                <a:latin typeface="Calibri"/>
                <a:ea typeface="Calibri"/>
              </a:rPr>
              <a:t>→ </a:t>
            </a:r>
            <a:r>
              <a:rPr b="0" lang="en-US" sz="1000" spc="-1" strike="noStrike">
                <a:solidFill>
                  <a:srgbClr val="a0a0aa"/>
                </a:solidFill>
                <a:latin typeface="Calibri"/>
                <a:ea typeface="Calibri"/>
              </a:rPr>
              <a:t>next →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365760" y="3063240"/>
            <a:ext cx="4114440" cy="182844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5"/>
          <p:cNvSpPr/>
          <p:nvPr/>
        </p:nvSpPr>
        <p:spPr>
          <a:xfrm>
            <a:off x="365760" y="3063240"/>
            <a:ext cx="4114440" cy="34704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457200" y="306324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Stack — Undo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502920" y="3456360"/>
            <a:ext cx="3748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LIFO mantığı ile çalışır. Silinen görev push edilir, Undo ile pop edilip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yeniden eklenir. O(1) sürede son işleme erişim.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4754880" y="3246120"/>
            <a:ext cx="3840120" cy="475200"/>
          </a:xfrm>
          <a:prstGeom prst="rect">
            <a:avLst/>
          </a:prstGeom>
          <a:solidFill>
            <a:srgbClr val="ffb74d"/>
          </a:solidFill>
          <a:ln w="12700">
            <a:solidFill>
              <a:srgbClr val="5050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9"/>
          <p:cNvSpPr/>
          <p:nvPr/>
        </p:nvSpPr>
        <p:spPr>
          <a:xfrm>
            <a:off x="4754880" y="324612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Task 3 (TOP)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20"/>
          <p:cNvSpPr/>
          <p:nvPr/>
        </p:nvSpPr>
        <p:spPr>
          <a:xfrm>
            <a:off x="4754880" y="3794760"/>
            <a:ext cx="3840120" cy="475200"/>
          </a:xfrm>
          <a:prstGeom prst="rect">
            <a:avLst/>
          </a:prstGeom>
          <a:solidFill>
            <a:srgbClr val="38383e"/>
          </a:solidFill>
          <a:ln w="12700">
            <a:solidFill>
              <a:srgbClr val="5050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1"/>
          <p:cNvSpPr/>
          <p:nvPr/>
        </p:nvSpPr>
        <p:spPr>
          <a:xfrm>
            <a:off x="4754880" y="379476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Task 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22"/>
          <p:cNvSpPr/>
          <p:nvPr/>
        </p:nvSpPr>
        <p:spPr>
          <a:xfrm>
            <a:off x="4754880" y="4343400"/>
            <a:ext cx="3840120" cy="475200"/>
          </a:xfrm>
          <a:prstGeom prst="rect">
            <a:avLst/>
          </a:prstGeom>
          <a:solidFill>
            <a:srgbClr val="38383e"/>
          </a:solidFill>
          <a:ln w="12700">
            <a:solidFill>
              <a:srgbClr val="5050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3"/>
          <p:cNvSpPr/>
          <p:nvPr/>
        </p:nvSpPr>
        <p:spPr>
          <a:xfrm>
            <a:off x="4754880" y="434340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Task 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24"/>
          <p:cNvSpPr/>
          <p:nvPr/>
        </p:nvSpPr>
        <p:spPr>
          <a:xfrm>
            <a:off x="4754880" y="48463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0a0aa"/>
                </a:solidFill>
                <a:latin typeface="Calibri"/>
                <a:ea typeface="Calibri"/>
              </a:rPr>
              <a:t>↑ </a:t>
            </a:r>
            <a:r>
              <a:rPr b="0" lang="en-US" sz="1000" spc="-1" strike="noStrike">
                <a:solidFill>
                  <a:srgbClr val="a0a0aa"/>
                </a:solidFill>
                <a:latin typeface="Calibri"/>
                <a:ea typeface="Calibri"/>
              </a:rPr>
              <a:t>push() / pop()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03  Veri Yapıları — Detay (2/2)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365760" y="1005840"/>
            <a:ext cx="2742840" cy="39315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365760" y="1005840"/>
            <a:ext cx="2742840" cy="34704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457200" y="10058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AVL Tree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502920" y="1417320"/>
            <a:ext cx="2468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String başlık aramasında kullanılır. Otomatik dengeli BST yapısı sayesinde arama O(log n) sürer. prefixSearch() ile anlık arama yapılır.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502920" y="4251960"/>
            <a:ext cx="2468520" cy="365400"/>
          </a:xfrm>
          <a:prstGeom prst="roundRect">
            <a:avLst>
              <a:gd name="adj" fmla="val 17500"/>
            </a:avLst>
          </a:prstGeom>
          <a:solidFill>
            <a:srgbClr val="ffb74d">
              <a:alpha val="20000"/>
            </a:srgbClr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502920" y="42519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4d"/>
                </a:solidFill>
                <a:latin typeface="Calibri"/>
                <a:ea typeface="Calibri"/>
              </a:rPr>
              <a:t>⚡ </a:t>
            </a:r>
            <a:r>
              <a:rPr b="1" lang="en-US" sz="1200" spc="-1" strike="noStrike">
                <a:solidFill>
                  <a:srgbClr val="ffb74d"/>
                </a:solidFill>
                <a:latin typeface="Calibri"/>
                <a:ea typeface="Calibri"/>
              </a:rPr>
              <a:t>O(log n) arama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3154680" y="1005840"/>
            <a:ext cx="2742840" cy="39315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3154680" y="1005840"/>
            <a:ext cx="2742840" cy="347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3246120" y="10058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Binary Search Tree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3291840" y="1417320"/>
            <a:ext cx="2468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Öncelik bazlı sıralama için kullanılır. Görevler öncelik değeriyle sıralı ağaca eklenir, inOrder() ile sıralı liste elde edilir.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3291840" y="4251960"/>
            <a:ext cx="2468520" cy="365400"/>
          </a:xfrm>
          <a:prstGeom prst="roundRect">
            <a:avLst>
              <a:gd name="adj" fmla="val 17500"/>
            </a:avLst>
          </a:prstGeom>
          <a:solidFill>
            <a:srgbClr val="ef5350">
              <a:alpha val="20000"/>
            </a:srgbClr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3291840" y="42519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f5350"/>
                </a:solidFill>
                <a:latin typeface="Calibri"/>
                <a:ea typeface="Calibri"/>
              </a:rPr>
              <a:t>⚡ </a:t>
            </a:r>
            <a:r>
              <a:rPr b="1" lang="en-US" sz="1200" spc="-1" strike="noStrike">
                <a:solidFill>
                  <a:srgbClr val="ef5350"/>
                </a:solidFill>
                <a:latin typeface="Calibri"/>
                <a:ea typeface="Calibri"/>
              </a:rPr>
              <a:t>O(n) inOrder geçişi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5943600" y="1005840"/>
            <a:ext cx="2742840" cy="39315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4"/>
          <p:cNvSpPr/>
          <p:nvPr/>
        </p:nvSpPr>
        <p:spPr>
          <a:xfrm>
            <a:off x="5943600" y="1005840"/>
            <a:ext cx="2742840" cy="34704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5"/>
          <p:cNvSpPr/>
          <p:nvPr/>
        </p:nvSpPr>
        <p:spPr>
          <a:xfrm>
            <a:off x="6035040" y="10058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TreeMap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6080760" y="1417320"/>
            <a:ext cx="2468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LocalDate anahtar ile görevleri tarihe göre gruplar. Sıralı Map yapısı sayesinde 'Group by Date' özelliği kolayca sağlanır.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6080760" y="4251960"/>
            <a:ext cx="2468520" cy="365400"/>
          </a:xfrm>
          <a:prstGeom prst="roundRect">
            <a:avLst>
              <a:gd name="adj" fmla="val 17500"/>
            </a:avLst>
          </a:prstGeom>
          <a:solidFill>
            <a:srgbClr val="6495ed">
              <a:alpha val="20000"/>
            </a:srgbClr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6080760" y="42519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495ed"/>
                </a:solidFill>
                <a:latin typeface="Calibri"/>
                <a:ea typeface="Calibri"/>
              </a:rPr>
              <a:t>⚡ </a:t>
            </a:r>
            <a:r>
              <a:rPr b="1" lang="en-US" sz="1200" spc="-1" strike="noStrike">
                <a:solidFill>
                  <a:srgbClr val="6495ed"/>
                </a:solidFill>
                <a:latin typeface="Calibri"/>
                <a:ea typeface="Calibri"/>
              </a:rPr>
              <a:t>O(log n) ekleme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04  UML Sınıf Diyagramı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365760" y="1005840"/>
            <a:ext cx="1828440" cy="36540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365760" y="10058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Priority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&lt;&lt;enum&gt;&gt;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3"/>
          <p:cNvSpPr/>
          <p:nvPr/>
        </p:nvSpPr>
        <p:spPr>
          <a:xfrm>
            <a:off x="365760" y="1371600"/>
            <a:ext cx="1828440" cy="7311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429840" y="1417320"/>
            <a:ext cx="1700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LOW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MEDIUM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HIGH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2514600" y="1005840"/>
            <a:ext cx="2011320" cy="36540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2514600" y="10058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2514600" y="1371600"/>
            <a:ext cx="2011320" cy="191988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2578680" y="1417320"/>
            <a:ext cx="18831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id: String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title: String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priority: Priority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completed: boolean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createdAt: LocalDate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toggleCompleted()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getters/setters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4754880" y="1005840"/>
            <a:ext cx="2194200" cy="3654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4754880" y="10058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TaskRepository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4754880" y="1371600"/>
            <a:ext cx="2194200" cy="191988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4818960" y="1417320"/>
            <a:ext cx="2066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tasks: LinkedList&lt;Task&gt;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taskIndex: HashMap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dateIndex: TreeMap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titleIndex: AVLTree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add()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remove()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findAll()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searchTitles()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13"/>
          <p:cNvSpPr/>
          <p:nvPr/>
        </p:nvSpPr>
        <p:spPr>
          <a:xfrm>
            <a:off x="365760" y="3337560"/>
            <a:ext cx="2194200" cy="365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365760" y="33375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TaskController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365760" y="3703320"/>
            <a:ext cx="2194200" cy="114264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429840" y="3749040"/>
            <a:ext cx="2066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repository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undoStack: Stack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priorityTree: BST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addTask()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deleteTask()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undoDelete()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getTasksSortedByPriority()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7086600" y="1005840"/>
            <a:ext cx="1645560" cy="36540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7086600" y="10058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AVLTree&lt;T&gt;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7086600" y="1371600"/>
            <a:ext cx="1645560" cy="7311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0"/>
          <p:cNvSpPr/>
          <p:nvPr/>
        </p:nvSpPr>
        <p:spPr>
          <a:xfrm>
            <a:off x="7150680" y="1417320"/>
            <a:ext cx="151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root: Node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size: int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insert()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search()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prefixSearch()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21"/>
          <p:cNvSpPr/>
          <p:nvPr/>
        </p:nvSpPr>
        <p:spPr>
          <a:xfrm>
            <a:off x="2926080" y="3337560"/>
            <a:ext cx="1828440" cy="3654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22"/>
          <p:cNvSpPr/>
          <p:nvPr/>
        </p:nvSpPr>
        <p:spPr>
          <a:xfrm>
            <a:off x="2926080" y="33375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BinarySearchTree&lt;T&gt;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23"/>
          <p:cNvSpPr/>
          <p:nvPr/>
        </p:nvSpPr>
        <p:spPr>
          <a:xfrm>
            <a:off x="2926080" y="3703320"/>
            <a:ext cx="1828440" cy="54828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24"/>
          <p:cNvSpPr/>
          <p:nvPr/>
        </p:nvSpPr>
        <p:spPr>
          <a:xfrm>
            <a:off x="2990160" y="374904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- root: Node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insert()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+ inOrder()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25"/>
          <p:cNvSpPr/>
          <p:nvPr/>
        </p:nvSpPr>
        <p:spPr>
          <a:xfrm>
            <a:off x="1965960" y="1554480"/>
            <a:ext cx="548640" cy="360"/>
          </a:xfrm>
          <a:prstGeom prst="line">
            <a:avLst/>
          </a:prstGeom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26"/>
          <p:cNvSpPr/>
          <p:nvPr/>
        </p:nvSpPr>
        <p:spPr>
          <a:xfrm>
            <a:off x="4526280" y="1828800"/>
            <a:ext cx="228600" cy="360"/>
          </a:xfrm>
          <a:prstGeom prst="line">
            <a:avLst/>
          </a:prstGeom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27"/>
          <p:cNvSpPr/>
          <p:nvPr/>
        </p:nvSpPr>
        <p:spPr>
          <a:xfrm>
            <a:off x="6949440" y="1828800"/>
            <a:ext cx="137160" cy="360"/>
          </a:xfrm>
          <a:prstGeom prst="line">
            <a:avLst/>
          </a:prstGeom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04  Use-Case Diyagramı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1"/>
          <p:cNvSpPr/>
          <p:nvPr/>
        </p:nvSpPr>
        <p:spPr>
          <a:xfrm>
            <a:off x="2286000" y="914400"/>
            <a:ext cx="6400440" cy="4023000"/>
          </a:xfrm>
          <a:prstGeom prst="rect">
            <a:avLst/>
          </a:prstGeom>
          <a:solidFill>
            <a:srgbClr val="1e1e26"/>
          </a:solidFill>
          <a:ln w="1905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2286000" y="91440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6495ed"/>
                </a:solidFill>
                <a:latin typeface="Calibri"/>
                <a:ea typeface="Calibri"/>
              </a:rPr>
              <a:t>todo-list-app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320040" y="1874520"/>
            <a:ext cx="438480" cy="438480"/>
          </a:xfrm>
          <a:prstGeom prst="ellipse">
            <a:avLst/>
          </a:prstGeom>
          <a:solidFill>
            <a:srgbClr val="a0a0aa"/>
          </a:solidFill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4"/>
          <p:cNvSpPr/>
          <p:nvPr/>
        </p:nvSpPr>
        <p:spPr>
          <a:xfrm>
            <a:off x="539280" y="2313360"/>
            <a:ext cx="360" cy="548640"/>
          </a:xfrm>
          <a:prstGeom prst="line">
            <a:avLst/>
          </a:prstGeom>
          <a:ln w="254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274320" y="2514600"/>
            <a:ext cx="530280" cy="360"/>
          </a:xfrm>
          <a:prstGeom prst="line">
            <a:avLst/>
          </a:prstGeom>
          <a:ln w="254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6"/>
          <p:cNvSpPr/>
          <p:nvPr/>
        </p:nvSpPr>
        <p:spPr>
          <a:xfrm flipH="1">
            <a:off x="338040" y="2862000"/>
            <a:ext cx="201240" cy="365760"/>
          </a:xfrm>
          <a:prstGeom prst="line">
            <a:avLst/>
          </a:prstGeom>
          <a:ln w="254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7"/>
          <p:cNvSpPr/>
          <p:nvPr/>
        </p:nvSpPr>
        <p:spPr>
          <a:xfrm>
            <a:off x="539280" y="2862000"/>
            <a:ext cx="201240" cy="365760"/>
          </a:xfrm>
          <a:prstGeom prst="line">
            <a:avLst/>
          </a:prstGeom>
          <a:ln w="254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91440" y="32461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Kullanıcı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9"/>
          <p:cNvSpPr/>
          <p:nvPr/>
        </p:nvSpPr>
        <p:spPr>
          <a:xfrm>
            <a:off x="2514600" y="1371600"/>
            <a:ext cx="1188360" cy="548280"/>
          </a:xfrm>
          <a:prstGeom prst="ellipse">
            <a:avLst/>
          </a:prstGeom>
          <a:solidFill>
            <a:srgbClr val="252535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2514600" y="137160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Görev Ekle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2514600" y="2057400"/>
            <a:ext cx="1188360" cy="548280"/>
          </a:xfrm>
          <a:prstGeom prst="ellipse">
            <a:avLst/>
          </a:prstGeom>
          <a:solidFill>
            <a:srgbClr val="252535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2514600" y="205740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Görev Sil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3"/>
          <p:cNvSpPr/>
          <p:nvPr/>
        </p:nvSpPr>
        <p:spPr>
          <a:xfrm>
            <a:off x="2514600" y="2743200"/>
            <a:ext cx="1188360" cy="548280"/>
          </a:xfrm>
          <a:prstGeom prst="ellipse">
            <a:avLst/>
          </a:prstGeom>
          <a:solidFill>
            <a:srgbClr val="252535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2514600" y="274320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Görev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Tamamla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15"/>
          <p:cNvSpPr/>
          <p:nvPr/>
        </p:nvSpPr>
        <p:spPr>
          <a:xfrm>
            <a:off x="2514600" y="3474720"/>
            <a:ext cx="1188360" cy="548280"/>
          </a:xfrm>
          <a:prstGeom prst="ellipse">
            <a:avLst/>
          </a:prstGeom>
          <a:solidFill>
            <a:srgbClr val="252535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2514600" y="347472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Görev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Filtreleme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5303520" y="1371600"/>
            <a:ext cx="1188360" cy="548280"/>
          </a:xfrm>
          <a:prstGeom prst="ellipse">
            <a:avLst/>
          </a:prstGeom>
          <a:solidFill>
            <a:srgbClr val="252535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5303520" y="137160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Görev Ara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(AVL Tree)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19"/>
          <p:cNvSpPr/>
          <p:nvPr/>
        </p:nvSpPr>
        <p:spPr>
          <a:xfrm>
            <a:off x="5303520" y="2286000"/>
            <a:ext cx="1188360" cy="548280"/>
          </a:xfrm>
          <a:prstGeom prst="ellipse">
            <a:avLst/>
          </a:prstGeom>
          <a:solidFill>
            <a:srgbClr val="252535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20"/>
          <p:cNvSpPr/>
          <p:nvPr/>
        </p:nvSpPr>
        <p:spPr>
          <a:xfrm>
            <a:off x="5303520" y="228600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Öncelik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Sıralama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21"/>
          <p:cNvSpPr/>
          <p:nvPr/>
        </p:nvSpPr>
        <p:spPr>
          <a:xfrm>
            <a:off x="5303520" y="3200400"/>
            <a:ext cx="1188360" cy="548280"/>
          </a:xfrm>
          <a:prstGeom prst="ellipse">
            <a:avLst/>
          </a:prstGeom>
          <a:solidFill>
            <a:srgbClr val="252535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22"/>
          <p:cNvSpPr/>
          <p:nvPr/>
        </p:nvSpPr>
        <p:spPr>
          <a:xfrm>
            <a:off x="5303520" y="320040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Tarihe Göre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Gruplama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23"/>
          <p:cNvSpPr/>
          <p:nvPr/>
        </p:nvSpPr>
        <p:spPr>
          <a:xfrm>
            <a:off x="7589520" y="1828800"/>
            <a:ext cx="1188360" cy="548280"/>
          </a:xfrm>
          <a:prstGeom prst="ellipse">
            <a:avLst/>
          </a:prstGeom>
          <a:solidFill>
            <a:srgbClr val="252535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24"/>
          <p:cNvSpPr/>
          <p:nvPr/>
        </p:nvSpPr>
        <p:spPr>
          <a:xfrm>
            <a:off x="7589520" y="182880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Geri Al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(Undo)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25"/>
          <p:cNvSpPr/>
          <p:nvPr/>
        </p:nvSpPr>
        <p:spPr>
          <a:xfrm>
            <a:off x="7589520" y="3017520"/>
            <a:ext cx="1188360" cy="548280"/>
          </a:xfrm>
          <a:prstGeom prst="ellipse">
            <a:avLst/>
          </a:prstGeom>
          <a:solidFill>
            <a:srgbClr val="252535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26"/>
          <p:cNvSpPr/>
          <p:nvPr/>
        </p:nvSpPr>
        <p:spPr>
          <a:xfrm>
            <a:off x="7589520" y="301752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Öncelik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Seçimi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27"/>
          <p:cNvSpPr/>
          <p:nvPr/>
        </p:nvSpPr>
        <p:spPr>
          <a:xfrm flipV="1">
            <a:off x="868680" y="1645920"/>
            <a:ext cx="1645920" cy="960120"/>
          </a:xfrm>
          <a:prstGeom prst="line">
            <a:avLst/>
          </a:prstGeom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28"/>
          <p:cNvSpPr/>
          <p:nvPr/>
        </p:nvSpPr>
        <p:spPr>
          <a:xfrm flipV="1">
            <a:off x="868680" y="2331720"/>
            <a:ext cx="1645920" cy="274320"/>
          </a:xfrm>
          <a:prstGeom prst="line">
            <a:avLst/>
          </a:prstGeom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29"/>
          <p:cNvSpPr/>
          <p:nvPr/>
        </p:nvSpPr>
        <p:spPr>
          <a:xfrm>
            <a:off x="868680" y="2606040"/>
            <a:ext cx="1645920" cy="411480"/>
          </a:xfrm>
          <a:prstGeom prst="line">
            <a:avLst/>
          </a:prstGeom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30"/>
          <p:cNvSpPr/>
          <p:nvPr/>
        </p:nvSpPr>
        <p:spPr>
          <a:xfrm>
            <a:off x="868680" y="2606040"/>
            <a:ext cx="1645920" cy="1143000"/>
          </a:xfrm>
          <a:prstGeom prst="line">
            <a:avLst/>
          </a:prstGeom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31"/>
          <p:cNvSpPr/>
          <p:nvPr/>
        </p:nvSpPr>
        <p:spPr>
          <a:xfrm flipV="1">
            <a:off x="3703320" y="2103120"/>
            <a:ext cx="3886200" cy="228600"/>
          </a:xfrm>
          <a:prstGeom prst="line">
            <a:avLst/>
          </a:prstGeom>
          <a:ln w="12700">
            <a:solidFill>
              <a:srgbClr val="ffb74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32"/>
          <p:cNvSpPr/>
          <p:nvPr/>
        </p:nvSpPr>
        <p:spPr>
          <a:xfrm>
            <a:off x="3703320" y="1645920"/>
            <a:ext cx="3886200" cy="1554480"/>
          </a:xfrm>
          <a:prstGeom prst="line">
            <a:avLst/>
          </a:prstGeom>
          <a:ln w="12700">
            <a:solidFill>
              <a:srgbClr val="ffb74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33"/>
          <p:cNvSpPr/>
          <p:nvPr/>
        </p:nvSpPr>
        <p:spPr>
          <a:xfrm>
            <a:off x="6858000" y="21031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fb74d"/>
                </a:solidFill>
                <a:latin typeface="Calibri"/>
                <a:ea typeface="Calibri"/>
              </a:rPr>
              <a:t>«extend»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34"/>
          <p:cNvSpPr/>
          <p:nvPr/>
        </p:nvSpPr>
        <p:spPr>
          <a:xfrm>
            <a:off x="6858000" y="283464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fb74d"/>
                </a:solidFill>
                <a:latin typeface="Calibri"/>
                <a:ea typeface="Calibri"/>
              </a:rPr>
              <a:t>«extend»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05  Uygulama Arayüzü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1"/>
          <p:cNvSpPr/>
          <p:nvPr/>
        </p:nvSpPr>
        <p:spPr>
          <a:xfrm>
            <a:off x="457200" y="1005840"/>
            <a:ext cx="5028840" cy="39315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2"/>
          <p:cNvSpPr/>
          <p:nvPr/>
        </p:nvSpPr>
        <p:spPr>
          <a:xfrm>
            <a:off x="457200" y="1005840"/>
            <a:ext cx="5028840" cy="347040"/>
          </a:xfrm>
          <a:prstGeom prst="rect">
            <a:avLst/>
          </a:prstGeom>
          <a:solidFill>
            <a:srgbClr val="151518"/>
          </a:solidFill>
          <a:ln w="1270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3"/>
          <p:cNvSpPr/>
          <p:nvPr/>
        </p:nvSpPr>
        <p:spPr>
          <a:xfrm>
            <a:off x="548640" y="10058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To-Do List                                          —   □   ×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4"/>
          <p:cNvSpPr/>
          <p:nvPr/>
        </p:nvSpPr>
        <p:spPr>
          <a:xfrm>
            <a:off x="457200" y="1353240"/>
            <a:ext cx="5028840" cy="639720"/>
          </a:xfrm>
          <a:prstGeom prst="rect">
            <a:avLst/>
          </a:prstGeom>
          <a:solidFill>
            <a:srgbClr val="28282f"/>
          </a:solidFill>
          <a:ln w="1270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594360" y="13899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To-Do List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6"/>
          <p:cNvSpPr/>
          <p:nvPr/>
        </p:nvSpPr>
        <p:spPr>
          <a:xfrm>
            <a:off x="594360" y="166428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a0aa"/>
                </a:solidFill>
                <a:latin typeface="Calibri"/>
                <a:ea typeface="Calibri"/>
              </a:rPr>
              <a:t>Organize your tasks efficiently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7"/>
          <p:cNvSpPr/>
          <p:nvPr/>
        </p:nvSpPr>
        <p:spPr>
          <a:xfrm>
            <a:off x="3474720" y="1444680"/>
            <a:ext cx="1919880" cy="319680"/>
          </a:xfrm>
          <a:prstGeom prst="rect">
            <a:avLst/>
          </a:prstGeom>
          <a:solidFill>
            <a:srgbClr val="2c2c38"/>
          </a:solidFill>
          <a:ln w="12700">
            <a:solidFill>
              <a:srgbClr val="5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3520440" y="14446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a0aa"/>
                </a:solidFill>
                <a:latin typeface="Calibri"/>
                <a:ea typeface="Calibri"/>
              </a:rPr>
              <a:t>🔍  </a:t>
            </a:r>
            <a:r>
              <a:rPr b="0" lang="en-US" sz="900" spc="-1" strike="noStrike">
                <a:solidFill>
                  <a:srgbClr val="a0a0aa"/>
                </a:solidFill>
                <a:latin typeface="Calibri"/>
                <a:ea typeface="Calibri"/>
              </a:rPr>
              <a:t>Search (AVL Tree)...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9"/>
          <p:cNvSpPr/>
          <p:nvPr/>
        </p:nvSpPr>
        <p:spPr>
          <a:xfrm>
            <a:off x="457200" y="1993320"/>
            <a:ext cx="3200040" cy="347040"/>
          </a:xfrm>
          <a:prstGeom prst="rect">
            <a:avLst/>
          </a:prstGeom>
          <a:solidFill>
            <a:srgbClr val="32323a"/>
          </a:solidFill>
          <a:ln w="12700">
            <a:solidFill>
              <a:srgbClr val="5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0"/>
          <p:cNvSpPr/>
          <p:nvPr/>
        </p:nvSpPr>
        <p:spPr>
          <a:xfrm>
            <a:off x="548640" y="1993320"/>
            <a:ext cx="3017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0a0aa"/>
                </a:solidFill>
                <a:latin typeface="Calibri"/>
                <a:ea typeface="Calibri"/>
              </a:rPr>
              <a:t>  </a:t>
            </a:r>
            <a:r>
              <a:rPr b="0" lang="en-US" sz="1000" spc="-1" strike="noStrike">
                <a:solidFill>
                  <a:srgbClr val="a0a0aa"/>
                </a:solidFill>
                <a:latin typeface="Calibri"/>
                <a:ea typeface="Calibri"/>
              </a:rPr>
              <a:t>What needs to be done?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11"/>
          <p:cNvSpPr/>
          <p:nvPr/>
        </p:nvSpPr>
        <p:spPr>
          <a:xfrm>
            <a:off x="3703320" y="1993320"/>
            <a:ext cx="731160" cy="347040"/>
          </a:xfrm>
          <a:prstGeom prst="rect">
            <a:avLst/>
          </a:prstGeom>
          <a:solidFill>
            <a:srgbClr val="28282f"/>
          </a:solidFill>
          <a:ln w="12700">
            <a:solidFill>
              <a:srgbClr val="5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2"/>
          <p:cNvSpPr/>
          <p:nvPr/>
        </p:nvSpPr>
        <p:spPr>
          <a:xfrm>
            <a:off x="3703320" y="199332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b74d"/>
                </a:solidFill>
                <a:latin typeface="Calibri"/>
                <a:ea typeface="Calibri"/>
              </a:rPr>
              <a:t>Medium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13"/>
          <p:cNvSpPr/>
          <p:nvPr/>
        </p:nvSpPr>
        <p:spPr>
          <a:xfrm>
            <a:off x="4480560" y="1993320"/>
            <a:ext cx="914040" cy="347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4"/>
          <p:cNvSpPr/>
          <p:nvPr/>
        </p:nvSpPr>
        <p:spPr>
          <a:xfrm>
            <a:off x="4480560" y="1993320"/>
            <a:ext cx="91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+ Add Task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15"/>
          <p:cNvSpPr/>
          <p:nvPr/>
        </p:nvSpPr>
        <p:spPr>
          <a:xfrm>
            <a:off x="457200" y="2377440"/>
            <a:ext cx="5028840" cy="319680"/>
          </a:xfrm>
          <a:prstGeom prst="rect">
            <a:avLst/>
          </a:prstGeom>
          <a:solidFill>
            <a:srgbClr val="23232a"/>
          </a:solidFill>
          <a:ln w="12700">
            <a:solidFill>
              <a:srgbClr val="2323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16"/>
          <p:cNvSpPr/>
          <p:nvPr/>
        </p:nvSpPr>
        <p:spPr>
          <a:xfrm>
            <a:off x="548640" y="237744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a0aa"/>
                </a:solidFill>
                <a:latin typeface="Calibri"/>
                <a:ea typeface="Calibri"/>
              </a:rPr>
              <a:t>⇅ </a:t>
            </a:r>
            <a:r>
              <a:rPr b="0" lang="en-US" sz="900" spc="-1" strike="noStrike">
                <a:solidFill>
                  <a:srgbClr val="a0a0aa"/>
                </a:solidFill>
                <a:latin typeface="Calibri"/>
                <a:ea typeface="Calibri"/>
              </a:rPr>
              <a:t>Sort by Priority    📅 Group by Date    🌲 BST sorting active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17"/>
          <p:cNvSpPr/>
          <p:nvPr/>
        </p:nvSpPr>
        <p:spPr>
          <a:xfrm>
            <a:off x="457200" y="2743200"/>
            <a:ext cx="5028840" cy="392760"/>
          </a:xfrm>
          <a:prstGeom prst="rect">
            <a:avLst/>
          </a:prstGeom>
          <a:solidFill>
            <a:srgbClr val="2c2c32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18"/>
          <p:cNvSpPr/>
          <p:nvPr/>
        </p:nvSpPr>
        <p:spPr>
          <a:xfrm>
            <a:off x="457200" y="2743200"/>
            <a:ext cx="54360" cy="3927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19"/>
          <p:cNvSpPr/>
          <p:nvPr/>
        </p:nvSpPr>
        <p:spPr>
          <a:xfrm>
            <a:off x="594360" y="2853000"/>
            <a:ext cx="182520" cy="182520"/>
          </a:xfrm>
          <a:prstGeom prst="rect">
            <a:avLst/>
          </a:prstGeom>
          <a:solidFill>
            <a:srgbClr val="3c3c50"/>
          </a:solidFill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0"/>
          <p:cNvSpPr/>
          <p:nvPr/>
        </p:nvSpPr>
        <p:spPr>
          <a:xfrm>
            <a:off x="868680" y="277056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Proje üzerinde çalış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21"/>
          <p:cNvSpPr/>
          <p:nvPr/>
        </p:nvSpPr>
        <p:spPr>
          <a:xfrm>
            <a:off x="3547800" y="2807280"/>
            <a:ext cx="685440" cy="255600"/>
          </a:xfrm>
          <a:prstGeom prst="roundRect">
            <a:avLst>
              <a:gd name="adj" fmla="val 17857"/>
            </a:avLst>
          </a:prstGeom>
          <a:solidFill>
            <a:srgbClr val="ef5350">
              <a:alpha val="20000"/>
            </a:srgbClr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22"/>
          <p:cNvSpPr/>
          <p:nvPr/>
        </p:nvSpPr>
        <p:spPr>
          <a:xfrm>
            <a:off x="3547800" y="2807280"/>
            <a:ext cx="685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f5350"/>
                </a:solidFill>
                <a:latin typeface="Calibri"/>
                <a:ea typeface="Calibri"/>
              </a:rPr>
              <a:t>High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23"/>
          <p:cNvSpPr/>
          <p:nvPr/>
        </p:nvSpPr>
        <p:spPr>
          <a:xfrm>
            <a:off x="5120640" y="280728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f5350"/>
                </a:solidFill>
                <a:latin typeface="Calibri"/>
                <a:ea typeface="Calibri"/>
              </a:rPr>
              <a:t>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24"/>
          <p:cNvSpPr/>
          <p:nvPr/>
        </p:nvSpPr>
        <p:spPr>
          <a:xfrm>
            <a:off x="457200" y="3173040"/>
            <a:ext cx="5028840" cy="392760"/>
          </a:xfrm>
          <a:prstGeom prst="rect">
            <a:avLst/>
          </a:prstGeom>
          <a:solidFill>
            <a:srgbClr val="2c2c32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25"/>
          <p:cNvSpPr/>
          <p:nvPr/>
        </p:nvSpPr>
        <p:spPr>
          <a:xfrm>
            <a:off x="457200" y="3173040"/>
            <a:ext cx="54360" cy="39276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6"/>
          <p:cNvSpPr/>
          <p:nvPr/>
        </p:nvSpPr>
        <p:spPr>
          <a:xfrm>
            <a:off x="594360" y="3282840"/>
            <a:ext cx="182520" cy="182520"/>
          </a:xfrm>
          <a:prstGeom prst="rect">
            <a:avLst/>
          </a:prstGeom>
          <a:solidFill>
            <a:srgbClr val="3c3c50"/>
          </a:solidFill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27"/>
          <p:cNvSpPr/>
          <p:nvPr/>
        </p:nvSpPr>
        <p:spPr>
          <a:xfrm>
            <a:off x="868680" y="32004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Konu tekrarı yap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28"/>
          <p:cNvSpPr/>
          <p:nvPr/>
        </p:nvSpPr>
        <p:spPr>
          <a:xfrm>
            <a:off x="3547800" y="3237120"/>
            <a:ext cx="685440" cy="255600"/>
          </a:xfrm>
          <a:prstGeom prst="roundRect">
            <a:avLst>
              <a:gd name="adj" fmla="val 17857"/>
            </a:avLst>
          </a:prstGeom>
          <a:solidFill>
            <a:srgbClr val="ffb74d">
              <a:alpha val="20000"/>
            </a:srgbClr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9"/>
          <p:cNvSpPr/>
          <p:nvPr/>
        </p:nvSpPr>
        <p:spPr>
          <a:xfrm>
            <a:off x="3547800" y="3237120"/>
            <a:ext cx="685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b74d"/>
                </a:solidFill>
                <a:latin typeface="Calibri"/>
                <a:ea typeface="Calibri"/>
              </a:rPr>
              <a:t>Medium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30"/>
          <p:cNvSpPr/>
          <p:nvPr/>
        </p:nvSpPr>
        <p:spPr>
          <a:xfrm>
            <a:off x="5120640" y="323712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f5350"/>
                </a:solidFill>
                <a:latin typeface="Calibri"/>
                <a:ea typeface="Calibri"/>
              </a:rPr>
              <a:t>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31"/>
          <p:cNvSpPr/>
          <p:nvPr/>
        </p:nvSpPr>
        <p:spPr>
          <a:xfrm>
            <a:off x="457200" y="3602880"/>
            <a:ext cx="5028840" cy="392760"/>
          </a:xfrm>
          <a:prstGeom prst="rect">
            <a:avLst/>
          </a:prstGeom>
          <a:solidFill>
            <a:srgbClr val="2c2c32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32"/>
          <p:cNvSpPr/>
          <p:nvPr/>
        </p:nvSpPr>
        <p:spPr>
          <a:xfrm>
            <a:off x="457200" y="3602880"/>
            <a:ext cx="54360" cy="39276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33"/>
          <p:cNvSpPr/>
          <p:nvPr/>
        </p:nvSpPr>
        <p:spPr>
          <a:xfrm>
            <a:off x="594360" y="3712320"/>
            <a:ext cx="182520" cy="182520"/>
          </a:xfrm>
          <a:prstGeom prst="rect">
            <a:avLst/>
          </a:prstGeom>
          <a:solidFill>
            <a:srgbClr val="3c3c50"/>
          </a:solidFill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34"/>
          <p:cNvSpPr/>
          <p:nvPr/>
        </p:nvSpPr>
        <p:spPr>
          <a:xfrm>
            <a:off x="868680" y="363024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Egzersiz yap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35"/>
          <p:cNvSpPr/>
          <p:nvPr/>
        </p:nvSpPr>
        <p:spPr>
          <a:xfrm>
            <a:off x="3547800" y="3666600"/>
            <a:ext cx="685440" cy="255600"/>
          </a:xfrm>
          <a:prstGeom prst="roundRect">
            <a:avLst>
              <a:gd name="adj" fmla="val 17857"/>
            </a:avLst>
          </a:prstGeom>
          <a:solidFill>
            <a:srgbClr val="ffb74d">
              <a:alpha val="20000"/>
            </a:srgbClr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36"/>
          <p:cNvSpPr/>
          <p:nvPr/>
        </p:nvSpPr>
        <p:spPr>
          <a:xfrm>
            <a:off x="3547800" y="3666600"/>
            <a:ext cx="685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b74d"/>
                </a:solidFill>
                <a:latin typeface="Calibri"/>
                <a:ea typeface="Calibri"/>
              </a:rPr>
              <a:t>Medium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37"/>
          <p:cNvSpPr/>
          <p:nvPr/>
        </p:nvSpPr>
        <p:spPr>
          <a:xfrm>
            <a:off x="5120640" y="366660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f5350"/>
                </a:solidFill>
                <a:latin typeface="Calibri"/>
                <a:ea typeface="Calibri"/>
              </a:rPr>
              <a:t>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38"/>
          <p:cNvSpPr/>
          <p:nvPr/>
        </p:nvSpPr>
        <p:spPr>
          <a:xfrm>
            <a:off x="457200" y="4032360"/>
            <a:ext cx="5028840" cy="392760"/>
          </a:xfrm>
          <a:prstGeom prst="rect">
            <a:avLst/>
          </a:prstGeom>
          <a:solidFill>
            <a:srgbClr val="2c2c32"/>
          </a:solidFill>
          <a:ln w="635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39"/>
          <p:cNvSpPr/>
          <p:nvPr/>
        </p:nvSpPr>
        <p:spPr>
          <a:xfrm>
            <a:off x="457200" y="4032360"/>
            <a:ext cx="54360" cy="3927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40"/>
          <p:cNvSpPr/>
          <p:nvPr/>
        </p:nvSpPr>
        <p:spPr>
          <a:xfrm>
            <a:off x="594360" y="4142160"/>
            <a:ext cx="182520" cy="182520"/>
          </a:xfrm>
          <a:prstGeom prst="rect">
            <a:avLst/>
          </a:prstGeom>
          <a:solidFill>
            <a:srgbClr val="3c3c50"/>
          </a:solidFill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41"/>
          <p:cNvSpPr/>
          <p:nvPr/>
        </p:nvSpPr>
        <p:spPr>
          <a:xfrm>
            <a:off x="868680" y="406008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Kitaplığını düzenle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42"/>
          <p:cNvSpPr/>
          <p:nvPr/>
        </p:nvSpPr>
        <p:spPr>
          <a:xfrm>
            <a:off x="3547800" y="4096440"/>
            <a:ext cx="685440" cy="255600"/>
          </a:xfrm>
          <a:prstGeom prst="roundRect">
            <a:avLst>
              <a:gd name="adj" fmla="val 17857"/>
            </a:avLst>
          </a:prstGeom>
          <a:solidFill>
            <a:srgbClr val="66bb6a">
              <a:alpha val="20000"/>
            </a:srgbClr>
          </a:solidFill>
          <a:ln w="1270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43"/>
          <p:cNvSpPr/>
          <p:nvPr/>
        </p:nvSpPr>
        <p:spPr>
          <a:xfrm>
            <a:off x="3547800" y="4096440"/>
            <a:ext cx="685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bb6a"/>
                </a:solidFill>
                <a:latin typeface="Calibri"/>
                <a:ea typeface="Calibri"/>
              </a:rPr>
              <a:t>Low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44"/>
          <p:cNvSpPr/>
          <p:nvPr/>
        </p:nvSpPr>
        <p:spPr>
          <a:xfrm>
            <a:off x="5120640" y="409644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f5350"/>
                </a:solidFill>
                <a:latin typeface="Calibri"/>
                <a:ea typeface="Calibri"/>
              </a:rPr>
              <a:t>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45"/>
          <p:cNvSpPr/>
          <p:nvPr/>
        </p:nvSpPr>
        <p:spPr>
          <a:xfrm>
            <a:off x="457200" y="4480560"/>
            <a:ext cx="5028840" cy="383760"/>
          </a:xfrm>
          <a:prstGeom prst="rect">
            <a:avLst/>
          </a:prstGeom>
          <a:solidFill>
            <a:srgbClr val="23232a"/>
          </a:solidFill>
          <a:ln w="12700">
            <a:solidFill>
              <a:srgbClr val="3c3c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46"/>
          <p:cNvSpPr/>
          <p:nvPr/>
        </p:nvSpPr>
        <p:spPr>
          <a:xfrm>
            <a:off x="548640" y="4480560"/>
            <a:ext cx="484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All   Active   Completed                    Clear Done    ↩ Undo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47"/>
          <p:cNvSpPr/>
          <p:nvPr/>
        </p:nvSpPr>
        <p:spPr>
          <a:xfrm>
            <a:off x="5715000" y="1188720"/>
            <a:ext cx="2925720" cy="5940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48"/>
          <p:cNvSpPr/>
          <p:nvPr/>
        </p:nvSpPr>
        <p:spPr>
          <a:xfrm>
            <a:off x="5715000" y="1188720"/>
            <a:ext cx="63720" cy="59400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49"/>
          <p:cNvSpPr/>
          <p:nvPr/>
        </p:nvSpPr>
        <p:spPr>
          <a:xfrm>
            <a:off x="5852160" y="118872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AVL Tree ile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anında arama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50"/>
          <p:cNvSpPr/>
          <p:nvPr/>
        </p:nvSpPr>
        <p:spPr>
          <a:xfrm>
            <a:off x="5715000" y="1920240"/>
            <a:ext cx="2925720" cy="5940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51"/>
          <p:cNvSpPr/>
          <p:nvPr/>
        </p:nvSpPr>
        <p:spPr>
          <a:xfrm>
            <a:off x="5715000" y="1920240"/>
            <a:ext cx="63720" cy="5940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52"/>
          <p:cNvSpPr/>
          <p:nvPr/>
        </p:nvSpPr>
        <p:spPr>
          <a:xfrm>
            <a:off x="5852160" y="192024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BST ile öncelik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sıralaması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53"/>
          <p:cNvSpPr/>
          <p:nvPr/>
        </p:nvSpPr>
        <p:spPr>
          <a:xfrm>
            <a:off x="5715000" y="2651760"/>
            <a:ext cx="2925720" cy="5940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54"/>
          <p:cNvSpPr/>
          <p:nvPr/>
        </p:nvSpPr>
        <p:spPr>
          <a:xfrm>
            <a:off x="5715000" y="2651760"/>
            <a:ext cx="63720" cy="59400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55"/>
          <p:cNvSpPr/>
          <p:nvPr/>
        </p:nvSpPr>
        <p:spPr>
          <a:xfrm>
            <a:off x="5852160" y="265176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Stack tabanlı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Undo işlemi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56"/>
          <p:cNvSpPr/>
          <p:nvPr/>
        </p:nvSpPr>
        <p:spPr>
          <a:xfrm>
            <a:off x="5715000" y="3383280"/>
            <a:ext cx="2925720" cy="5940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57"/>
          <p:cNvSpPr/>
          <p:nvPr/>
        </p:nvSpPr>
        <p:spPr>
          <a:xfrm>
            <a:off x="5715000" y="3383280"/>
            <a:ext cx="63720" cy="5940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58"/>
          <p:cNvSpPr/>
          <p:nvPr/>
        </p:nvSpPr>
        <p:spPr>
          <a:xfrm>
            <a:off x="5852160" y="338328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TreeMap ile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tarihe göre gruplama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59"/>
          <p:cNvSpPr/>
          <p:nvPr/>
        </p:nvSpPr>
        <p:spPr>
          <a:xfrm>
            <a:off x="5715000" y="4114800"/>
            <a:ext cx="2925720" cy="59400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60"/>
          <p:cNvSpPr/>
          <p:nvPr/>
        </p:nvSpPr>
        <p:spPr>
          <a:xfrm>
            <a:off x="5715000" y="4114800"/>
            <a:ext cx="63720" cy="594000"/>
          </a:xfrm>
          <a:prstGeom prst="rect">
            <a:avLst/>
          </a:prstGeom>
          <a:solidFill>
            <a:srgbClr val="a0a0aa"/>
          </a:solidFill>
          <a:ln w="12700">
            <a:solidFill>
              <a:srgbClr val="a0a0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61"/>
          <p:cNvSpPr/>
          <p:nvPr/>
        </p:nvSpPr>
        <p:spPr>
          <a:xfrm>
            <a:off x="5852160" y="411480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LinkedList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ana depo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50292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06  Sonuç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2"/>
          <p:cNvSpPr/>
          <p:nvPr/>
        </p:nvSpPr>
        <p:spPr>
          <a:xfrm>
            <a:off x="457200" y="1051560"/>
            <a:ext cx="8229240" cy="8409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457200" y="1051560"/>
            <a:ext cx="72720" cy="840960"/>
          </a:xfrm>
          <a:prstGeom prst="rect">
            <a:avLst/>
          </a:prstGeom>
          <a:solidFill>
            <a:srgbClr val="6495ed"/>
          </a:solidFill>
          <a:ln w="12700">
            <a:solidFill>
              <a:srgbClr val="6495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685800" y="11156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6495ed"/>
                </a:solidFill>
                <a:latin typeface="Calibri"/>
                <a:ea typeface="Calibri"/>
              </a:rPr>
              <a:t>7 Veri Yapısı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5"/>
          <p:cNvSpPr/>
          <p:nvPr/>
        </p:nvSpPr>
        <p:spPr>
          <a:xfrm>
            <a:off x="2834640" y="1143000"/>
            <a:ext cx="5668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LinkedList, Stack, HashMap, BST, TreeMap, AVLTree, List — her biri doğru yerde kullanıldı.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6"/>
          <p:cNvSpPr/>
          <p:nvPr/>
        </p:nvSpPr>
        <p:spPr>
          <a:xfrm>
            <a:off x="457200" y="2011680"/>
            <a:ext cx="8229240" cy="8409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7"/>
          <p:cNvSpPr/>
          <p:nvPr/>
        </p:nvSpPr>
        <p:spPr>
          <a:xfrm>
            <a:off x="457200" y="2011680"/>
            <a:ext cx="72720" cy="8409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8"/>
          <p:cNvSpPr/>
          <p:nvPr/>
        </p:nvSpPr>
        <p:spPr>
          <a:xfrm>
            <a:off x="685800" y="20757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4caf50"/>
                </a:solidFill>
                <a:latin typeface="Calibri"/>
                <a:ea typeface="Calibri"/>
              </a:rPr>
              <a:t>MVC Mimarisi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2834640" y="2103120"/>
            <a:ext cx="5668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Model, View ve Controller katmanları birbirinden bağımsız; Swing'i değiştirsek controller etkilenmez.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10"/>
          <p:cNvSpPr/>
          <p:nvPr/>
        </p:nvSpPr>
        <p:spPr>
          <a:xfrm>
            <a:off x="457200" y="2971800"/>
            <a:ext cx="8229240" cy="8409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11"/>
          <p:cNvSpPr/>
          <p:nvPr/>
        </p:nvSpPr>
        <p:spPr>
          <a:xfrm>
            <a:off x="457200" y="2971800"/>
            <a:ext cx="72720" cy="84096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685800" y="30358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b74d"/>
                </a:solidFill>
                <a:latin typeface="Calibri"/>
                <a:ea typeface="Calibri"/>
              </a:rPr>
              <a:t>Performans Odaklı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13"/>
          <p:cNvSpPr/>
          <p:nvPr/>
        </p:nvSpPr>
        <p:spPr>
          <a:xfrm>
            <a:off x="2834640" y="3063240"/>
            <a:ext cx="5668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O(1) erişim için HashMap, O(log n) arama için AVL Tree, sıralama için BST seçildi.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14"/>
          <p:cNvSpPr/>
          <p:nvPr/>
        </p:nvSpPr>
        <p:spPr>
          <a:xfrm>
            <a:off x="457200" y="3931920"/>
            <a:ext cx="8229240" cy="840960"/>
          </a:xfrm>
          <a:prstGeom prst="rect">
            <a:avLst/>
          </a:prstGeom>
          <a:solidFill>
            <a:srgbClr val="2c2c32"/>
          </a:solidFill>
          <a:ln w="12700">
            <a:solidFill>
              <a:srgbClr val="3c3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15"/>
          <p:cNvSpPr/>
          <p:nvPr/>
        </p:nvSpPr>
        <p:spPr>
          <a:xfrm>
            <a:off x="457200" y="3931920"/>
            <a:ext cx="72720" cy="8409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16"/>
          <p:cNvSpPr/>
          <p:nvPr/>
        </p:nvSpPr>
        <p:spPr>
          <a:xfrm>
            <a:off x="685800" y="399600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f5350"/>
                </a:solidFill>
                <a:latin typeface="Calibri"/>
                <a:ea typeface="Calibri"/>
              </a:rPr>
              <a:t>Nesne Yönelimli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17"/>
          <p:cNvSpPr/>
          <p:nvPr/>
        </p:nvSpPr>
        <p:spPr>
          <a:xfrm>
            <a:off x="2834640" y="4023360"/>
            <a:ext cx="5668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UUID kimlik, enum tip güvenliği, Observer callback deseni ile temiz OOP uygulandı.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18"/>
          <p:cNvSpPr/>
          <p:nvPr/>
        </p:nvSpPr>
        <p:spPr>
          <a:xfrm>
            <a:off x="457200" y="47548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a0a0aa"/>
                </a:solidFill>
                <a:latin typeface="Calibri"/>
                <a:ea typeface="Calibri"/>
              </a:rPr>
              <a:t>Proje başarıyla tamamlandı. Veri yapıları teoriden pratiğe taşındı.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2026-06-04T19:05:08Z</dcterms:created>
  <dc:creator>PptxGenJS</dc:creator>
  <dc:description/>
  <dc:language>en-US</dc:language>
  <cp:lastModifiedBy>PptxGenJS</cp:lastModifiedBy>
  <dcterms:modified xsi:type="dcterms:W3CDTF">2026-06-04T19:05:08Z</dcterms:modified>
  <cp:revision>1</cp:revision>
  <dc:subject>PptxGenJS Presentation</dc:subject>
  <dc:title>To-Do List Uygulaması - Veri Yapıları Projesi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